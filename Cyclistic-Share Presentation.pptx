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344" r:id="rId5"/>
    <p:sldId id="345" r:id="rId6"/>
    <p:sldId id="346" r:id="rId7"/>
    <p:sldId id="347" r:id="rId8"/>
    <p:sldId id="348" r:id="rId9"/>
    <p:sldId id="358" r:id="rId10"/>
    <p:sldId id="351" r:id="rId11"/>
    <p:sldId id="355" r:id="rId12"/>
    <p:sldId id="350" r:id="rId13"/>
    <p:sldId id="353" r:id="rId14"/>
    <p:sldId id="352" r:id="rId15"/>
    <p:sldId id="354" r:id="rId16"/>
    <p:sldId id="357" r:id="rId17"/>
    <p:sldId id="356" r:id="rId18"/>
    <p:sldId id="359" r:id="rId19"/>
    <p:sldId id="360" r:id="rId20"/>
    <p:sldId id="3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BE61C3-0D18-48B5-84D4-E426F10A49CB}" v="8" dt="2025-11-08T22:31:26.489"/>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6" autoAdjust="0"/>
    <p:restoredTop sz="95928" autoAdjust="0"/>
  </p:normalViewPr>
  <p:slideViewPr>
    <p:cSldViewPr snapToGrid="0">
      <p:cViewPr varScale="1">
        <p:scale>
          <a:sx n="80" d="100"/>
          <a:sy n="80" d="100"/>
        </p:scale>
        <p:origin x="66" y="534"/>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11/8/2025</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11/8/2025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2</a:t>
            </a:fld>
            <a:endParaRPr lang="en-US" dirty="0"/>
          </a:p>
        </p:txBody>
      </p:sp>
    </p:spTree>
    <p:extLst>
      <p:ext uri="{BB962C8B-B14F-4D97-AF65-F5344CB8AC3E}">
        <p14:creationId xmlns:p14="http://schemas.microsoft.com/office/powerpoint/2010/main" val="4207700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1711026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5</a:t>
            </a:fld>
            <a:endParaRPr lang="en-US" dirty="0"/>
          </a:p>
        </p:txBody>
      </p:sp>
    </p:spTree>
    <p:extLst>
      <p:ext uri="{BB962C8B-B14F-4D97-AF65-F5344CB8AC3E}">
        <p14:creationId xmlns:p14="http://schemas.microsoft.com/office/powerpoint/2010/main" val="2702345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72B33-0515-DF32-0511-D2104A7F6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C3A5E-2EBE-3FE2-BD43-4FFA0FF9C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444D8-8570-E077-6E7D-EA787695C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C210AF-FE95-897A-A295-685A38BE3D8B}"/>
              </a:ext>
            </a:extLst>
          </p:cNvPr>
          <p:cNvSpPr>
            <a:spLocks noGrp="1"/>
          </p:cNvSpPr>
          <p:nvPr>
            <p:ph type="sldNum" sz="quarter" idx="5"/>
          </p:nvPr>
        </p:nvSpPr>
        <p:spPr/>
        <p:txBody>
          <a:bodyPr/>
          <a:lstStyle/>
          <a:p>
            <a:fld id="{8D18E0B9-48E4-499D-93B2-B07D00395BAC}" type="slidenum">
              <a:rPr lang="en-US" smtClean="0"/>
              <a:t>8</a:t>
            </a:fld>
            <a:endParaRPr lang="en-US" dirty="0"/>
          </a:p>
        </p:txBody>
      </p:sp>
    </p:spTree>
    <p:extLst>
      <p:ext uri="{BB962C8B-B14F-4D97-AF65-F5344CB8AC3E}">
        <p14:creationId xmlns:p14="http://schemas.microsoft.com/office/powerpoint/2010/main" val="3345580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B3537-EABD-7209-A563-62ED4145B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88A6D-12A8-CA43-9488-CD8CB70CE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8F9DB-129A-E2DD-9475-1B90D646A7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D546CD-93E8-024D-1407-5CF6C1732503}"/>
              </a:ext>
            </a:extLst>
          </p:cNvPr>
          <p:cNvSpPr>
            <a:spLocks noGrp="1"/>
          </p:cNvSpPr>
          <p:nvPr>
            <p:ph type="sldNum" sz="quarter" idx="5"/>
          </p:nvPr>
        </p:nvSpPr>
        <p:spPr/>
        <p:txBody>
          <a:bodyPr/>
          <a:lstStyle/>
          <a:p>
            <a:fld id="{8D18E0B9-48E4-499D-93B2-B07D00395BAC}" type="slidenum">
              <a:rPr lang="en-US" smtClean="0"/>
              <a:t>10</a:t>
            </a:fld>
            <a:endParaRPr lang="en-US" dirty="0"/>
          </a:p>
        </p:txBody>
      </p:sp>
    </p:spTree>
    <p:extLst>
      <p:ext uri="{BB962C8B-B14F-4D97-AF65-F5344CB8AC3E}">
        <p14:creationId xmlns:p14="http://schemas.microsoft.com/office/powerpoint/2010/main" val="3876138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2122-3AD5-D056-F504-F2C215A4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1EBED-5C59-E615-C303-8F949538B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DB944-C857-D4E6-6C56-71CAA0EB8D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213CD7-E535-CBFB-B062-264EDB4433EE}"/>
              </a:ext>
            </a:extLst>
          </p:cNvPr>
          <p:cNvSpPr>
            <a:spLocks noGrp="1"/>
          </p:cNvSpPr>
          <p:nvPr>
            <p:ph type="sldNum" sz="quarter" idx="5"/>
          </p:nvPr>
        </p:nvSpPr>
        <p:spPr/>
        <p:txBody>
          <a:bodyPr/>
          <a:lstStyle/>
          <a:p>
            <a:fld id="{8D18E0B9-48E4-499D-93B2-B07D00395BAC}" type="slidenum">
              <a:rPr lang="en-US" smtClean="0"/>
              <a:t>12</a:t>
            </a:fld>
            <a:endParaRPr lang="en-US" dirty="0"/>
          </a:p>
        </p:txBody>
      </p:sp>
    </p:spTree>
    <p:extLst>
      <p:ext uri="{BB962C8B-B14F-4D97-AF65-F5344CB8AC3E}">
        <p14:creationId xmlns:p14="http://schemas.microsoft.com/office/powerpoint/2010/main" val="54424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55DD-0A07-7309-8A59-ABA5A6C3DF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CCCDC-D0EE-7ADF-F366-0F04BF9B9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F482E-F043-FA51-0CDE-6DE845B64F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71A2DE-F0AD-1C48-FC68-46C35BB43560}"/>
              </a:ext>
            </a:extLst>
          </p:cNvPr>
          <p:cNvSpPr>
            <a:spLocks noGrp="1"/>
          </p:cNvSpPr>
          <p:nvPr>
            <p:ph type="sldNum" sz="quarter" idx="5"/>
          </p:nvPr>
        </p:nvSpPr>
        <p:spPr/>
        <p:txBody>
          <a:bodyPr/>
          <a:lstStyle/>
          <a:p>
            <a:fld id="{8D18E0B9-48E4-499D-93B2-B07D00395BAC}" type="slidenum">
              <a:rPr lang="en-US" smtClean="0"/>
              <a:t>14</a:t>
            </a:fld>
            <a:endParaRPr lang="en-US" dirty="0"/>
          </a:p>
        </p:txBody>
      </p:sp>
    </p:spTree>
    <p:extLst>
      <p:ext uri="{BB962C8B-B14F-4D97-AF65-F5344CB8AC3E}">
        <p14:creationId xmlns:p14="http://schemas.microsoft.com/office/powerpoint/2010/main" val="2822559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hf hdr="0" ft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pxhere.com/en/photo/820555"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hyperlink" Target="https://divvy-tripdata.s3.amazonaws.com/index.htmlhttps:/divvy-tripdata.s3.amazonaws.com/index.html" TargetMode="External"/><Relationship Id="rId5" Type="http://schemas.openxmlformats.org/officeDocument/2006/relationships/hyperlink" Target="https://creativecommons.org/licenses/by-sa/3.0/" TargetMode="External"/><Relationship Id="rId4" Type="http://schemas.openxmlformats.org/officeDocument/2006/relationships/hyperlink" Target="http://thechoice.escp.eu/choose-to-lead/harnessing-ai-to-accelerate-digital-transformatio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hyperlink" Target="https://creativecommons.org/licenses/by-nc/3.0/" TargetMode="External"/><Relationship Id="rId4" Type="http://schemas.openxmlformats.org/officeDocument/2006/relationships/hyperlink" Target="https://geojournalism.org/tools/"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pexels.com/ko-kr/photo/hd-hd-hd-1619299/" TargetMode="External"/><Relationship Id="rId2" Type="http://schemas.openxmlformats.org/officeDocument/2006/relationships/image" Target="../media/image9.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10462" b="10462"/>
          <a:stretch/>
        </p:blipFill>
        <p:spPr>
          <a:xfrm rot="1149965">
            <a:off x="8086447" y="206773"/>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925541" y="1104549"/>
            <a:ext cx="6325330" cy="2755642"/>
          </a:xfrm>
        </p:spPr>
        <p:txBody>
          <a:bodyPr/>
          <a:lstStyle/>
          <a:p>
            <a:r>
              <a:rPr lang="en-US" dirty="0" err="1">
                <a:solidFill>
                  <a:schemeClr val="tx1"/>
                </a:solidFill>
              </a:rPr>
              <a:t>Cyclistic</a:t>
            </a:r>
            <a:br>
              <a:rPr lang="en-US" dirty="0">
                <a:solidFill>
                  <a:schemeClr val="tx1"/>
                </a:solidFill>
              </a:rPr>
            </a:br>
            <a:endParaRPr lang="en-US" dirty="0">
              <a:solidFill>
                <a:schemeClr val="tx1"/>
              </a:solidFill>
            </a:endParaRPr>
          </a:p>
        </p:txBody>
      </p:sp>
      <p:sp>
        <p:nvSpPr>
          <p:cNvPr id="5" name="TextBox 4">
            <a:extLst>
              <a:ext uri="{FF2B5EF4-FFF2-40B4-BE49-F238E27FC236}">
                <a16:creationId xmlns:a16="http://schemas.microsoft.com/office/drawing/2014/main" id="{F2DADFD8-E820-7EB2-3FDE-608ED778AD1E}"/>
              </a:ext>
            </a:extLst>
          </p:cNvPr>
          <p:cNvSpPr txBox="1"/>
          <p:nvPr/>
        </p:nvSpPr>
        <p:spPr>
          <a:xfrm>
            <a:off x="5562388" y="3055660"/>
            <a:ext cx="1705916" cy="461665"/>
          </a:xfrm>
          <a:prstGeom prst="rect">
            <a:avLst/>
          </a:prstGeom>
          <a:noFill/>
        </p:spPr>
        <p:txBody>
          <a:bodyPr wrap="none" rtlCol="0">
            <a:spAutoFit/>
          </a:bodyPr>
          <a:lstStyle/>
          <a:p>
            <a:r>
              <a:rPr lang="en-US" sz="2400" b="1" dirty="0">
                <a:solidFill>
                  <a:srgbClr val="00B0F0"/>
                </a:solidFill>
                <a:highlight>
                  <a:srgbClr val="808000"/>
                </a:highlight>
              </a:rPr>
              <a:t>BIKE-SHARE</a:t>
            </a:r>
          </a:p>
        </p:txBody>
      </p:sp>
      <p:sp>
        <p:nvSpPr>
          <p:cNvPr id="6" name="Rectangle 5">
            <a:extLst>
              <a:ext uri="{FF2B5EF4-FFF2-40B4-BE49-F238E27FC236}">
                <a16:creationId xmlns:a16="http://schemas.microsoft.com/office/drawing/2014/main" id="{33D1162C-6E8C-A338-C59E-02D44CD86313}"/>
              </a:ext>
            </a:extLst>
          </p:cNvPr>
          <p:cNvSpPr/>
          <p:nvPr/>
        </p:nvSpPr>
        <p:spPr>
          <a:xfrm>
            <a:off x="1180909" y="3938457"/>
            <a:ext cx="7149782" cy="1938992"/>
          </a:xfrm>
          <a:prstGeom prst="rect">
            <a:avLst/>
          </a:prstGeom>
          <a:noFill/>
        </p:spPr>
        <p:txBody>
          <a:bodyPr wrap="square" lIns="91440" tIns="45720" rIns="91440" bIns="45720">
            <a:spAutoFit/>
          </a:bodyPr>
          <a:lstStyle/>
          <a:p>
            <a:pPr algn="ctr"/>
            <a:r>
              <a:rPr lang="en-US" sz="6000" b="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masis MT Pro Black" panose="020F0502020204030204" pitchFamily="18" charset="0"/>
              </a:rPr>
              <a:t>NAVIGATING SPEEDY SUCCESS</a:t>
            </a:r>
          </a:p>
        </p:txBody>
      </p:sp>
      <p:sp>
        <p:nvSpPr>
          <p:cNvPr id="7" name="TextBox 6">
            <a:extLst>
              <a:ext uri="{FF2B5EF4-FFF2-40B4-BE49-F238E27FC236}">
                <a16:creationId xmlns:a16="http://schemas.microsoft.com/office/drawing/2014/main" id="{2DA255F4-B995-4FCE-3EAE-59FFB6A75501}"/>
              </a:ext>
            </a:extLst>
          </p:cNvPr>
          <p:cNvSpPr txBox="1"/>
          <p:nvPr/>
        </p:nvSpPr>
        <p:spPr>
          <a:xfrm>
            <a:off x="9984880" y="6157266"/>
            <a:ext cx="1880643" cy="369332"/>
          </a:xfrm>
          <a:prstGeom prst="rect">
            <a:avLst/>
          </a:prstGeom>
          <a:noFill/>
        </p:spPr>
        <p:txBody>
          <a:bodyPr wrap="none" rtlCol="0">
            <a:spAutoFit/>
          </a:bodyPr>
          <a:lstStyle/>
          <a:p>
            <a:r>
              <a:rPr lang="en-US" b="1" dirty="0"/>
              <a:t>By: Michael </a:t>
            </a:r>
            <a:r>
              <a:rPr lang="en-US" b="1" dirty="0" err="1"/>
              <a:t>Essiful</a:t>
            </a:r>
            <a:endParaRPr lang="en-US" b="1" dirty="0"/>
          </a:p>
        </p:txBody>
      </p:sp>
    </p:spTree>
    <p:extLst>
      <p:ext uri="{BB962C8B-B14F-4D97-AF65-F5344CB8AC3E}">
        <p14:creationId xmlns:p14="http://schemas.microsoft.com/office/powerpoint/2010/main" val="3865085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4B7D88-18D8-7250-6364-BECA6F65381D}"/>
              </a:ext>
            </a:extLst>
          </p:cNvPr>
          <p:cNvSpPr>
            <a:spLocks noGrp="1"/>
          </p:cNvSpPr>
          <p:nvPr>
            <p:ph type="title"/>
          </p:nvPr>
        </p:nvSpPr>
        <p:spPr>
          <a:xfrm>
            <a:off x="914400" y="883920"/>
            <a:ext cx="4114800" cy="5059680"/>
          </a:xfrm>
        </p:spPr>
        <p:txBody>
          <a:bodyPr/>
          <a:lstStyle/>
          <a:p>
            <a:r>
              <a:rPr lang="en-US" dirty="0"/>
              <a:t>Business Task </a:t>
            </a:r>
          </a:p>
        </p:txBody>
      </p:sp>
      <p:sp>
        <p:nvSpPr>
          <p:cNvPr id="7" name="Content Placeholder 6">
            <a:extLst>
              <a:ext uri="{FF2B5EF4-FFF2-40B4-BE49-F238E27FC236}">
                <a16:creationId xmlns:a16="http://schemas.microsoft.com/office/drawing/2014/main" id="{0C0D5F39-EF49-BECB-8276-8B8A46F07AC2}"/>
              </a:ext>
            </a:extLst>
          </p:cNvPr>
          <p:cNvSpPr>
            <a:spLocks noGrp="1"/>
          </p:cNvSpPr>
          <p:nvPr>
            <p:ph sz="quarter" idx="10"/>
          </p:nvPr>
        </p:nvSpPr>
        <p:spPr>
          <a:xfrm>
            <a:off x="6153765" y="1013958"/>
            <a:ext cx="4799012" cy="1743027"/>
          </a:xfrm>
        </p:spPr>
        <p:txBody>
          <a:bodyPr>
            <a:normAutofit fontScale="92500" lnSpcReduction="10000"/>
          </a:bodyPr>
          <a:lstStyle/>
          <a:p>
            <a:pPr marL="285750" indent="-285750">
              <a:buFont typeface="Arial" panose="020B0604020202020204" pitchFamily="34" charset="0"/>
              <a:buChar char="•"/>
            </a:pPr>
            <a:r>
              <a:rPr lang="en-US" dirty="0"/>
              <a:t>Analyze  </a:t>
            </a:r>
            <a:r>
              <a:rPr lang="en-US" dirty="0" err="1"/>
              <a:t>cyclistic</a:t>
            </a:r>
            <a:r>
              <a:rPr lang="en-US" dirty="0"/>
              <a:t> </a:t>
            </a:r>
            <a:r>
              <a:rPr lang="en-US" dirty="0" err="1"/>
              <a:t>hististorical</a:t>
            </a:r>
            <a:r>
              <a:rPr lang="en-US" dirty="0"/>
              <a:t> bike trip data for 2024 to understand how annual members and casual riders uses bikes differently.</a:t>
            </a:r>
          </a:p>
          <a:p>
            <a:pPr marL="285750" indent="-285750">
              <a:buFont typeface="Arial" panose="020B0604020202020204" pitchFamily="34" charset="0"/>
              <a:buChar char="•"/>
            </a:pPr>
            <a:r>
              <a:rPr lang="en-US" dirty="0"/>
              <a:t>Use insights to design marketing strategies for converting casual riders into annual members.</a:t>
            </a:r>
          </a:p>
          <a:p>
            <a:pPr marL="285750" indent="-285750">
              <a:buFont typeface="Arial" panose="020B0604020202020204" pitchFamily="34" charset="0"/>
              <a:buChar char="•"/>
            </a:pPr>
            <a:endParaRPr lang="en-US" dirty="0"/>
          </a:p>
        </p:txBody>
      </p:sp>
      <p:sp>
        <p:nvSpPr>
          <p:cNvPr id="5" name="Content Placeholder 6">
            <a:extLst>
              <a:ext uri="{FF2B5EF4-FFF2-40B4-BE49-F238E27FC236}">
                <a16:creationId xmlns:a16="http://schemas.microsoft.com/office/drawing/2014/main" id="{4C59606B-D044-B6B6-AD0E-7D6478826F3F}"/>
              </a:ext>
            </a:extLst>
          </p:cNvPr>
          <p:cNvSpPr txBox="1">
            <a:spLocks/>
          </p:cNvSpPr>
          <p:nvPr/>
        </p:nvSpPr>
        <p:spPr>
          <a:xfrm>
            <a:off x="6153765" y="3229502"/>
            <a:ext cx="4799012" cy="2454482"/>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25000"/>
              </a:lnSpc>
              <a:spcBef>
                <a:spcPts val="100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Key Questions</a:t>
            </a:r>
          </a:p>
          <a:p>
            <a:pPr marL="285750" indent="-285750">
              <a:buFont typeface="Arial" panose="020B0604020202020204" pitchFamily="34" charset="0"/>
              <a:buChar char="•"/>
            </a:pPr>
            <a:r>
              <a:rPr lang="en-US" dirty="0"/>
              <a:t>How do annual members and casual riders use </a:t>
            </a:r>
            <a:r>
              <a:rPr lang="en-US" dirty="0" err="1"/>
              <a:t>cyclistic</a:t>
            </a:r>
            <a:r>
              <a:rPr lang="en-US" dirty="0"/>
              <a:t> bikes differently?</a:t>
            </a:r>
          </a:p>
          <a:p>
            <a:pPr marL="285750" indent="-285750">
              <a:buFont typeface="Arial" panose="020B0604020202020204" pitchFamily="34" charset="0"/>
              <a:buChar char="•"/>
            </a:pPr>
            <a:r>
              <a:rPr lang="en-US" dirty="0"/>
              <a:t>Why would casual riders buy annual membership?</a:t>
            </a:r>
          </a:p>
          <a:p>
            <a:pPr marL="285750" indent="-285750">
              <a:buFont typeface="Arial" panose="020B0604020202020204" pitchFamily="34" charset="0"/>
              <a:buChar char="•"/>
            </a:pPr>
            <a:r>
              <a:rPr lang="en-US" dirty="0"/>
              <a:t>How can </a:t>
            </a:r>
            <a:r>
              <a:rPr lang="en-US" dirty="0" err="1"/>
              <a:t>cyclistic</a:t>
            </a:r>
            <a:r>
              <a:rPr lang="en-US" dirty="0"/>
              <a:t> use digital media to influence casual riders to become members?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810374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6478742" y="914399"/>
            <a:ext cx="4798858" cy="5029199"/>
          </a:xfrm>
        </p:spPr>
        <p:txBody>
          <a:bodyPr/>
          <a:lstStyle/>
          <a:p>
            <a:r>
              <a:rPr lang="en-US" dirty="0"/>
              <a:t>Data Source</a:t>
            </a:r>
            <a:br>
              <a:rPr lang="en-US" dirty="0"/>
            </a:br>
            <a:br>
              <a:rPr lang="en-US" dirty="0"/>
            </a:br>
            <a:br>
              <a:rPr lang="en-US" dirty="0"/>
            </a:br>
            <a:br>
              <a:rPr lang="en-US" dirty="0"/>
            </a:br>
            <a:br>
              <a:rPr lang="en-US" dirty="0"/>
            </a:br>
            <a:endParaRPr lang="en-US" dirty="0"/>
          </a:p>
        </p:txBody>
      </p:sp>
      <p:pic>
        <p:nvPicPr>
          <p:cNvPr id="21" name="Picture Placeholder 20">
            <a:extLst>
              <a:ext uri="{FF2B5EF4-FFF2-40B4-BE49-F238E27FC236}">
                <a16:creationId xmlns:a16="http://schemas.microsoft.com/office/drawing/2014/main" id="{6B3187BD-B790-DE63-0B54-F9E459DC3142}"/>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4524" r="14524"/>
          <a:stretch/>
        </p:blipFill>
        <p:spPr>
          <a:xfrm>
            <a:off x="396873" y="914399"/>
            <a:ext cx="5316386" cy="5029200"/>
          </a:xfrm>
        </p:spPr>
      </p:pic>
      <p:sp>
        <p:nvSpPr>
          <p:cNvPr id="2" name="TextBox 1">
            <a:extLst>
              <a:ext uri="{FF2B5EF4-FFF2-40B4-BE49-F238E27FC236}">
                <a16:creationId xmlns:a16="http://schemas.microsoft.com/office/drawing/2014/main" id="{16ECD4FB-D654-A64E-17AA-BE1C197AD3FD}"/>
              </a:ext>
            </a:extLst>
          </p:cNvPr>
          <p:cNvSpPr txBox="1"/>
          <p:nvPr/>
        </p:nvSpPr>
        <p:spPr>
          <a:xfrm>
            <a:off x="396874" y="5943600"/>
            <a:ext cx="5316540" cy="230832"/>
          </a:xfrm>
          <a:prstGeom prst="rect">
            <a:avLst/>
          </a:prstGeom>
          <a:noFill/>
        </p:spPr>
        <p:txBody>
          <a:bodyPr wrap="square" rtlCol="0">
            <a:spAutoFit/>
          </a:bodyPr>
          <a:lstStyle/>
          <a:p>
            <a:r>
              <a:rPr lang="en-US" sz="900" dirty="0">
                <a:hlinkClick r:id="rId4" tooltip="http://thechoice.escp.eu/choose-to-lead/harnessing-ai-to-accelerate-digital-transformation/"/>
              </a:rPr>
              <a:t>This Photo</a:t>
            </a:r>
            <a:r>
              <a:rPr lang="en-US" sz="900" dirty="0"/>
              <a:t> by Unknown Author is licensed under </a:t>
            </a:r>
            <a:r>
              <a:rPr lang="en-US" sz="900" dirty="0">
                <a:hlinkClick r:id="rId5" tooltip="https://creativecommons.org/licenses/by-sa/3.0/"/>
              </a:rPr>
              <a:t>CC BY-SA</a:t>
            </a:r>
            <a:endParaRPr lang="en-US" sz="900" dirty="0"/>
          </a:p>
        </p:txBody>
      </p:sp>
      <p:sp>
        <p:nvSpPr>
          <p:cNvPr id="3" name="TextBox 2">
            <a:extLst>
              <a:ext uri="{FF2B5EF4-FFF2-40B4-BE49-F238E27FC236}">
                <a16:creationId xmlns:a16="http://schemas.microsoft.com/office/drawing/2014/main" id="{5233CA0A-839C-5084-B3A5-3CC4FC5168B3}"/>
              </a:ext>
            </a:extLst>
          </p:cNvPr>
          <p:cNvSpPr txBox="1"/>
          <p:nvPr/>
        </p:nvSpPr>
        <p:spPr>
          <a:xfrm>
            <a:off x="6005631" y="3106203"/>
            <a:ext cx="5651819" cy="2031325"/>
          </a:xfrm>
          <a:prstGeom prst="rect">
            <a:avLst/>
          </a:prstGeom>
          <a:noFill/>
        </p:spPr>
        <p:txBody>
          <a:bodyPr wrap="square" rtlCol="0">
            <a:spAutoFit/>
          </a:bodyPr>
          <a:lstStyle/>
          <a:p>
            <a:pPr marL="285750" indent="-285750">
              <a:buFont typeface="Arial" panose="020B0604020202020204" pitchFamily="34" charset="0"/>
              <a:buChar char="•"/>
            </a:pPr>
            <a:r>
              <a:rPr lang="en-US" dirty="0" err="1"/>
              <a:t>Cyclistic</a:t>
            </a:r>
            <a:r>
              <a:rPr lang="en-US" dirty="0"/>
              <a:t> Historical Trip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hlinkClick r:id="rId6"/>
              </a:rPr>
              <a:t>https://divvy-tripdata.s3.amazonaws.com/index.htmlhttps://divvy-tripdata.s3.amazonaws.com/index.html</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71577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21905908-61C5-E80D-F570-D84DB7527C19}"/>
              </a:ext>
            </a:extLst>
          </p:cNvPr>
          <p:cNvSpPr>
            <a:spLocks noGrp="1"/>
          </p:cNvSpPr>
          <p:nvPr>
            <p:ph type="title"/>
          </p:nvPr>
        </p:nvSpPr>
        <p:spPr>
          <a:xfrm>
            <a:off x="634105" y="748981"/>
            <a:ext cx="4802373" cy="1426400"/>
          </a:xfrm>
        </p:spPr>
        <p:txBody>
          <a:bodyPr/>
          <a:lstStyle/>
          <a:p>
            <a:r>
              <a:rPr lang="en-US" dirty="0"/>
              <a:t>Data</a:t>
            </a:r>
            <a:br>
              <a:rPr lang="en-US" dirty="0"/>
            </a:br>
            <a:r>
              <a:rPr lang="en-US" dirty="0"/>
              <a:t>Cleaning Steps</a:t>
            </a:r>
          </a:p>
        </p:txBody>
      </p:sp>
      <p:sp>
        <p:nvSpPr>
          <p:cNvPr id="28" name="Content Placeholder 27">
            <a:extLst>
              <a:ext uri="{FF2B5EF4-FFF2-40B4-BE49-F238E27FC236}">
                <a16:creationId xmlns:a16="http://schemas.microsoft.com/office/drawing/2014/main" id="{7CC1959B-E6A9-5770-EC41-43538A9E36CE}"/>
              </a:ext>
            </a:extLst>
          </p:cNvPr>
          <p:cNvSpPr>
            <a:spLocks noGrp="1"/>
          </p:cNvSpPr>
          <p:nvPr>
            <p:ph sz="quarter" idx="11"/>
          </p:nvPr>
        </p:nvSpPr>
        <p:spPr>
          <a:xfrm>
            <a:off x="914400" y="2426147"/>
            <a:ext cx="4802735" cy="3578413"/>
          </a:xfrm>
        </p:spPr>
        <p:txBody>
          <a:bodyPr>
            <a:normAutofit fontScale="85000" lnSpcReduction="20000"/>
          </a:bodyPr>
          <a:lstStyle/>
          <a:p>
            <a:pPr marL="285750" indent="-285750">
              <a:buFont typeface="Arial" panose="020B0604020202020204" pitchFamily="34" charset="0"/>
              <a:buChar char="•"/>
            </a:pPr>
            <a:r>
              <a:rPr lang="en-US" dirty="0"/>
              <a:t>Downloaded/unzipped 12 monthly CSVs; stored in dedicated folder with backups.</a:t>
            </a:r>
          </a:p>
          <a:p>
            <a:pPr marL="285750" indent="-285750">
              <a:buFont typeface="Arial" panose="020B0604020202020204" pitchFamily="34" charset="0"/>
              <a:buChar char="•"/>
            </a:pPr>
            <a:r>
              <a:rPr lang="en-US" dirty="0"/>
              <a:t>Imported into excel; removed duplicates and null entries.</a:t>
            </a:r>
          </a:p>
          <a:p>
            <a:pPr marL="285750" indent="-285750">
              <a:buFont typeface="Arial" panose="020B0604020202020204" pitchFamily="34" charset="0"/>
              <a:buChar char="•"/>
            </a:pPr>
            <a:r>
              <a:rPr lang="en-US" dirty="0"/>
              <a:t>Created helper columns</a:t>
            </a:r>
          </a:p>
          <a:p>
            <a:pPr marL="742950" lvl="1" indent="-285750">
              <a:buFont typeface="Arial" panose="020B0604020202020204" pitchFamily="34" charset="0"/>
              <a:buChar char="•"/>
            </a:pPr>
            <a:r>
              <a:rPr lang="en-US" dirty="0"/>
              <a:t>Ride duration</a:t>
            </a:r>
          </a:p>
          <a:p>
            <a:pPr marL="742950" lvl="1" indent="-285750">
              <a:buFont typeface="Arial" panose="020B0604020202020204" pitchFamily="34" charset="0"/>
              <a:buChar char="•"/>
            </a:pPr>
            <a:r>
              <a:rPr lang="en-US" dirty="0"/>
              <a:t>Ride start hour</a:t>
            </a:r>
          </a:p>
          <a:p>
            <a:pPr marL="742950" lvl="1" indent="-285750">
              <a:buFont typeface="Arial" panose="020B0604020202020204" pitchFamily="34" charset="0"/>
              <a:buChar char="•"/>
            </a:pPr>
            <a:r>
              <a:rPr lang="en-US" dirty="0"/>
              <a:t>Ride date</a:t>
            </a:r>
          </a:p>
          <a:p>
            <a:pPr marL="742950" lvl="1" indent="-285750">
              <a:buFont typeface="Arial" panose="020B0604020202020204" pitchFamily="34" charset="0"/>
              <a:buChar char="•"/>
            </a:pPr>
            <a:r>
              <a:rPr lang="en-US" dirty="0"/>
              <a:t>Ride day</a:t>
            </a:r>
          </a:p>
          <a:p>
            <a:pPr marL="285750" lvl="1" indent="-285750">
              <a:buFont typeface="Arial" panose="020B0604020202020204" pitchFamily="34" charset="0"/>
              <a:buChar char="•"/>
            </a:pPr>
            <a:r>
              <a:rPr lang="en-US" dirty="0"/>
              <a:t>Binned durations: 0-10; 11 – 20;  21 – 30; 31 – 40; 41 – 50; and above 60</a:t>
            </a:r>
          </a:p>
          <a:p>
            <a:pPr marL="285750" lvl="1" indent="-285750">
              <a:buFont typeface="Arial" panose="020B0604020202020204" pitchFamily="34" charset="0"/>
              <a:buChar char="•"/>
            </a:pPr>
            <a:r>
              <a:rPr lang="en-US" dirty="0"/>
              <a:t>Counted rows to determine total rides</a:t>
            </a:r>
          </a:p>
          <a:p>
            <a:pPr marL="285750" lvl="1" indent="-285750">
              <a:buFont typeface="Arial" panose="020B0604020202020204" pitchFamily="34" charset="0"/>
              <a:buChar char="•"/>
            </a:pPr>
            <a:r>
              <a:rPr lang="en-US" dirty="0"/>
              <a:t>Saved all into external data connection</a:t>
            </a:r>
          </a:p>
          <a:p>
            <a:pPr marL="285750" lvl="1" indent="-285750">
              <a:buFont typeface="Arial" panose="020B0604020202020204" pitchFamily="34" charset="0"/>
              <a:buChar char="•"/>
            </a:pPr>
            <a:r>
              <a:rPr lang="en-US" dirty="0"/>
              <a:t>Loaded into one master sheet for analysis (5.67M rows)</a:t>
            </a:r>
          </a:p>
        </p:txBody>
      </p:sp>
      <p:pic>
        <p:nvPicPr>
          <p:cNvPr id="20" name="Picture Placeholder 19">
            <a:extLst>
              <a:ext uri="{FF2B5EF4-FFF2-40B4-BE49-F238E27FC236}">
                <a16:creationId xmlns:a16="http://schemas.microsoft.com/office/drawing/2014/main" id="{3F8EC18D-03A7-9C7B-E8C4-34A8973C74DA}"/>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5988" b="5988"/>
          <a:stretch/>
        </p:blipFill>
        <p:spPr>
          <a:xfrm>
            <a:off x="6478588" y="920750"/>
            <a:ext cx="5713412" cy="5029200"/>
          </a:xfrm>
        </p:spPr>
      </p:pic>
      <p:sp>
        <p:nvSpPr>
          <p:cNvPr id="2" name="TextBox 1">
            <a:extLst>
              <a:ext uri="{FF2B5EF4-FFF2-40B4-BE49-F238E27FC236}">
                <a16:creationId xmlns:a16="http://schemas.microsoft.com/office/drawing/2014/main" id="{43696E77-B573-7C75-9295-578CDC32620F}"/>
              </a:ext>
            </a:extLst>
          </p:cNvPr>
          <p:cNvSpPr txBox="1"/>
          <p:nvPr/>
        </p:nvSpPr>
        <p:spPr>
          <a:xfrm>
            <a:off x="6478588" y="5949950"/>
            <a:ext cx="5713412" cy="230832"/>
          </a:xfrm>
          <a:prstGeom prst="rect">
            <a:avLst/>
          </a:prstGeom>
          <a:noFill/>
        </p:spPr>
        <p:txBody>
          <a:bodyPr wrap="square" rtlCol="0">
            <a:spAutoFit/>
          </a:bodyPr>
          <a:lstStyle/>
          <a:p>
            <a:r>
              <a:rPr lang="en-US" sz="900">
                <a:hlinkClick r:id="rId4" tooltip="https://geojournalism.org/tools/"/>
              </a:rPr>
              <a:t>This Photo</a:t>
            </a:r>
            <a:r>
              <a:rPr lang="en-US" sz="900"/>
              <a:t> by Unknown Author is licensed under </a:t>
            </a:r>
            <a:r>
              <a:rPr lang="en-US" sz="900">
                <a:hlinkClick r:id="rId5" tooltip="https://creativecommons.org/licenses/by-nc/3.0/"/>
              </a:rPr>
              <a:t>CC BY-NC</a:t>
            </a:r>
            <a:endParaRPr lang="en-US" sz="900"/>
          </a:p>
        </p:txBody>
      </p:sp>
    </p:spTree>
    <p:extLst>
      <p:ext uri="{BB962C8B-B14F-4D97-AF65-F5344CB8AC3E}">
        <p14:creationId xmlns:p14="http://schemas.microsoft.com/office/powerpoint/2010/main" val="1427108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A951FD-B055-4EE8-B6D9-62EC0F39DC50}"/>
              </a:ext>
            </a:extLst>
          </p:cNvPr>
          <p:cNvSpPr>
            <a:spLocks noGrp="1"/>
          </p:cNvSpPr>
          <p:nvPr>
            <p:ph type="title"/>
          </p:nvPr>
        </p:nvSpPr>
        <p:spPr>
          <a:xfrm>
            <a:off x="914400" y="1020445"/>
            <a:ext cx="4114800" cy="5029200"/>
          </a:xfrm>
        </p:spPr>
        <p:txBody>
          <a:bodyPr/>
          <a:lstStyle/>
          <a:p>
            <a:r>
              <a:rPr lang="en-US" dirty="0"/>
              <a:t>Key Insights</a:t>
            </a:r>
          </a:p>
        </p:txBody>
      </p:sp>
      <p:sp>
        <p:nvSpPr>
          <p:cNvPr id="7" name="Content Placeholder 6">
            <a:extLst>
              <a:ext uri="{FF2B5EF4-FFF2-40B4-BE49-F238E27FC236}">
                <a16:creationId xmlns:a16="http://schemas.microsoft.com/office/drawing/2014/main" id="{FC5F8EB2-8936-F0AC-DA2A-4A5609BEA7E8}"/>
              </a:ext>
            </a:extLst>
          </p:cNvPr>
          <p:cNvSpPr>
            <a:spLocks noGrp="1"/>
          </p:cNvSpPr>
          <p:nvPr>
            <p:ph sz="quarter" idx="11"/>
          </p:nvPr>
        </p:nvSpPr>
        <p:spPr>
          <a:xfrm>
            <a:off x="6475227" y="1020445"/>
            <a:ext cx="4802735" cy="5029200"/>
          </a:xfrm>
        </p:spPr>
        <p:txBody>
          <a:bodyPr>
            <a:normAutofit lnSpcReduction="10000"/>
          </a:bodyPr>
          <a:lstStyle/>
          <a:p>
            <a:r>
              <a:rPr lang="en-US" b="1" dirty="0"/>
              <a:t>Seasonal Trends: </a:t>
            </a:r>
            <a:r>
              <a:rPr lang="en-US" dirty="0"/>
              <a:t>Rides peak in summer (Jun-Aug)</a:t>
            </a:r>
          </a:p>
          <a:p>
            <a:r>
              <a:rPr lang="en-US" b="1" dirty="0"/>
              <a:t>User Differences: </a:t>
            </a:r>
            <a:r>
              <a:rPr lang="en-US" dirty="0"/>
              <a:t>Members: Shorter, consistent rides (commuters, weekdays); prefer classic bikes.   • Casuals: Longer, recreational rides (weekends/summer); favor electric/docked for leisure.</a:t>
            </a:r>
          </a:p>
          <a:p>
            <a:r>
              <a:rPr lang="en-US" b="1" dirty="0"/>
              <a:t>Duration Patterns: </a:t>
            </a:r>
            <a:r>
              <a:rPr lang="en-US" dirty="0"/>
              <a:t>Most rides &lt;20 min (78%); casuals average ~28 min vs. members ~14 min.</a:t>
            </a:r>
          </a:p>
          <a:p>
            <a:r>
              <a:rPr lang="en-US" b="1" dirty="0"/>
              <a:t>Time of Day: Bimodal peaks (7–9 AM, 4–6 PM) – commute hours; casuals more midday.</a:t>
            </a:r>
            <a:endParaRPr lang="en-US" dirty="0"/>
          </a:p>
          <a:p>
            <a:r>
              <a:rPr lang="en-US" dirty="0"/>
              <a:t> Ride Types: Classic bikes dominate; electric surges in warm months.</a:t>
            </a:r>
          </a:p>
        </p:txBody>
      </p:sp>
    </p:spTree>
    <p:extLst>
      <p:ext uri="{BB962C8B-B14F-4D97-AF65-F5344CB8AC3E}">
        <p14:creationId xmlns:p14="http://schemas.microsoft.com/office/powerpoint/2010/main" val="76255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25A33-D924-5ADD-1803-7023384C8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ED24E-6960-4F92-2FF9-F380CF737FA7}"/>
              </a:ext>
            </a:extLst>
          </p:cNvPr>
          <p:cNvSpPr>
            <a:spLocks noGrp="1"/>
          </p:cNvSpPr>
          <p:nvPr>
            <p:ph type="title"/>
          </p:nvPr>
        </p:nvSpPr>
        <p:spPr>
          <a:xfrm>
            <a:off x="651163" y="1020445"/>
            <a:ext cx="4114800" cy="5029200"/>
          </a:xfrm>
        </p:spPr>
        <p:txBody>
          <a:bodyPr>
            <a:normAutofit/>
          </a:bodyPr>
          <a:lstStyle/>
          <a:p>
            <a:r>
              <a:rPr lang="en-US" sz="3200" dirty="0"/>
              <a:t>Average Rides Duration by Day</a:t>
            </a:r>
          </a:p>
        </p:txBody>
      </p:sp>
      <p:sp>
        <p:nvSpPr>
          <p:cNvPr id="4" name="Slide Number Placeholder 3">
            <a:extLst>
              <a:ext uri="{FF2B5EF4-FFF2-40B4-BE49-F238E27FC236}">
                <a16:creationId xmlns:a16="http://schemas.microsoft.com/office/drawing/2014/main" id="{EE208C34-4562-6E2A-F745-FA82053852C5}"/>
              </a:ext>
            </a:extLst>
          </p:cNvPr>
          <p:cNvSpPr>
            <a:spLocks noGrp="1"/>
          </p:cNvSpPr>
          <p:nvPr>
            <p:ph type="sldNum" sz="quarter" idx="4"/>
          </p:nvPr>
        </p:nvSpPr>
        <p:spPr/>
        <p:txBody>
          <a:bodyPr/>
          <a:lstStyle/>
          <a:p>
            <a:fld id="{B5CEABB6-07DC-46E8-9B57-56EC44A396E5}" type="slidenum">
              <a:rPr lang="en-US" smtClean="0"/>
              <a:pPr/>
              <a:t>6</a:t>
            </a:fld>
            <a:endParaRPr lang="en-US" dirty="0"/>
          </a:p>
        </p:txBody>
      </p:sp>
      <p:pic>
        <p:nvPicPr>
          <p:cNvPr id="7" name="Content Placeholder 6" descr="A graph of blue and orange bars&#10;&#10;AI-generated content may be incorrect.">
            <a:extLst>
              <a:ext uri="{FF2B5EF4-FFF2-40B4-BE49-F238E27FC236}">
                <a16:creationId xmlns:a16="http://schemas.microsoft.com/office/drawing/2014/main" id="{8C8A7383-ECF0-F93F-3E3A-E269A135C1CD}"/>
              </a:ext>
            </a:extLst>
          </p:cNvPr>
          <p:cNvPicPr>
            <a:picLocks noGrp="1" noChangeAspect="1"/>
          </p:cNvPicPr>
          <p:nvPr>
            <p:ph sz="quarter" idx="11"/>
          </p:nvPr>
        </p:nvPicPr>
        <p:blipFill>
          <a:blip r:embed="rId2"/>
          <a:stretch>
            <a:fillRect/>
          </a:stretch>
        </p:blipFill>
        <p:spPr>
          <a:xfrm>
            <a:off x="3775365" y="1326365"/>
            <a:ext cx="7893802" cy="4723280"/>
          </a:xfrm>
        </p:spPr>
      </p:pic>
    </p:spTree>
    <p:extLst>
      <p:ext uri="{BB962C8B-B14F-4D97-AF65-F5344CB8AC3E}">
        <p14:creationId xmlns:p14="http://schemas.microsoft.com/office/powerpoint/2010/main" val="368542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5027C-9546-B8B3-CD98-3CBF739F7C88}"/>
              </a:ext>
            </a:extLst>
          </p:cNvPr>
          <p:cNvSpPr>
            <a:spLocks noGrp="1"/>
          </p:cNvSpPr>
          <p:nvPr>
            <p:ph type="title"/>
          </p:nvPr>
        </p:nvSpPr>
        <p:spPr/>
        <p:txBody>
          <a:bodyPr/>
          <a:lstStyle/>
          <a:p>
            <a:r>
              <a:rPr lang="en-US" dirty="0"/>
              <a:t>Duration </a:t>
            </a:r>
            <a:r>
              <a:rPr lang="en-US" dirty="0" err="1"/>
              <a:t>Paterns</a:t>
            </a:r>
            <a:endParaRPr lang="en-US" dirty="0"/>
          </a:p>
        </p:txBody>
      </p:sp>
      <p:pic>
        <p:nvPicPr>
          <p:cNvPr id="7" name="Content Placeholder 6" descr="A graph of a number of days and months">
            <a:extLst>
              <a:ext uri="{FF2B5EF4-FFF2-40B4-BE49-F238E27FC236}">
                <a16:creationId xmlns:a16="http://schemas.microsoft.com/office/drawing/2014/main" id="{965C5181-A705-EB96-A78B-68F1CE1918C6}"/>
              </a:ext>
            </a:extLst>
          </p:cNvPr>
          <p:cNvPicPr>
            <a:picLocks noGrp="1" noChangeAspect="1"/>
          </p:cNvPicPr>
          <p:nvPr>
            <p:ph sz="quarter" idx="10"/>
          </p:nvPr>
        </p:nvPicPr>
        <p:blipFill>
          <a:blip r:embed="rId2"/>
          <a:stretch>
            <a:fillRect/>
          </a:stretch>
        </p:blipFill>
        <p:spPr>
          <a:xfrm>
            <a:off x="768545" y="1489364"/>
            <a:ext cx="10676695" cy="4749511"/>
          </a:xfrm>
        </p:spPr>
      </p:pic>
      <p:sp>
        <p:nvSpPr>
          <p:cNvPr id="5" name="Slide Number Placeholder 4">
            <a:extLst>
              <a:ext uri="{FF2B5EF4-FFF2-40B4-BE49-F238E27FC236}">
                <a16:creationId xmlns:a16="http://schemas.microsoft.com/office/drawing/2014/main" id="{0470885D-8294-6030-CDE7-4071C8DB77CE}"/>
              </a:ext>
            </a:extLst>
          </p:cNvPr>
          <p:cNvSpPr>
            <a:spLocks noGrp="1"/>
          </p:cNvSpPr>
          <p:nvPr>
            <p:ph type="sldNum" sz="quarter" idx="4"/>
          </p:nvPr>
        </p:nvSpPr>
        <p:spPr/>
        <p:txBody>
          <a:bodyPr/>
          <a:lstStyle/>
          <a:p>
            <a:fld id="{B5CEABB6-07DC-46E8-9B57-56EC44A396E5}" type="slidenum">
              <a:rPr lang="en-US" smtClean="0"/>
              <a:pPr/>
              <a:t>7</a:t>
            </a:fld>
            <a:endParaRPr lang="en-US" dirty="0"/>
          </a:p>
        </p:txBody>
      </p:sp>
    </p:spTree>
    <p:extLst>
      <p:ext uri="{BB962C8B-B14F-4D97-AF65-F5344CB8AC3E}">
        <p14:creationId xmlns:p14="http://schemas.microsoft.com/office/powerpoint/2010/main" val="4126306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2415A-AA56-5438-971F-AA66504160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134A8B9-A4BB-CB00-B36B-5DD4DA8B17C8}"/>
              </a:ext>
            </a:extLst>
          </p:cNvPr>
          <p:cNvSpPr>
            <a:spLocks noGrp="1"/>
          </p:cNvSpPr>
          <p:nvPr>
            <p:ph type="title"/>
          </p:nvPr>
        </p:nvSpPr>
        <p:spPr>
          <a:xfrm>
            <a:off x="914400" y="1020445"/>
            <a:ext cx="4114800" cy="5029200"/>
          </a:xfrm>
        </p:spPr>
        <p:txBody>
          <a:bodyPr/>
          <a:lstStyle/>
          <a:p>
            <a:r>
              <a:rPr lang="en-US" dirty="0"/>
              <a:t>Key Insights:</a:t>
            </a:r>
            <a:br>
              <a:rPr lang="en-US" dirty="0"/>
            </a:br>
            <a:r>
              <a:rPr lang="en-US" dirty="0"/>
              <a:t>Average Rides per day and Duration</a:t>
            </a:r>
          </a:p>
        </p:txBody>
      </p:sp>
      <p:sp>
        <p:nvSpPr>
          <p:cNvPr id="7" name="Content Placeholder 6">
            <a:extLst>
              <a:ext uri="{FF2B5EF4-FFF2-40B4-BE49-F238E27FC236}">
                <a16:creationId xmlns:a16="http://schemas.microsoft.com/office/drawing/2014/main" id="{2C21E770-F877-2786-F479-CE4F9C152527}"/>
              </a:ext>
            </a:extLst>
          </p:cNvPr>
          <p:cNvSpPr>
            <a:spLocks noGrp="1"/>
          </p:cNvSpPr>
          <p:nvPr>
            <p:ph sz="quarter" idx="11"/>
          </p:nvPr>
        </p:nvSpPr>
        <p:spPr>
          <a:xfrm>
            <a:off x="5331229" y="1020445"/>
            <a:ext cx="5946733" cy="5029200"/>
          </a:xfrm>
        </p:spPr>
        <p:txBody>
          <a:bodyPr>
            <a:normAutofit fontScale="85000" lnSpcReduction="10000"/>
          </a:bodyPr>
          <a:lstStyle/>
          <a:p>
            <a:r>
              <a:rPr lang="en-US" dirty="0"/>
              <a:t>Description: Grouped bar chart comparing average duration (y-axis: 0-20 min) for members (blue) vs. casuals (orange) across days (x-axis: Sun-Sat).</a:t>
            </a:r>
          </a:p>
          <a:p>
            <a:pPr marL="0" indent="0">
              <a:buNone/>
            </a:pPr>
            <a:r>
              <a:rPr lang="en-US" b="1" dirty="0"/>
              <a:t>Key Findings:</a:t>
            </a:r>
          </a:p>
          <a:p>
            <a:r>
              <a:rPr lang="en-US" dirty="0"/>
              <a:t>•  Casuals average 2x longer rides than members on weekends (Sun: 18 min casual vs. 10 min member; Sat: 16 min vs. 9 min).</a:t>
            </a:r>
          </a:p>
          <a:p>
            <a:r>
              <a:rPr lang="en-US" dirty="0"/>
              <a:t>•  Members maintain steady ~12-14 min rides weekdays (Mon-Fri), dropping slightly on weekends (~10 min).</a:t>
            </a:r>
          </a:p>
          <a:p>
            <a:r>
              <a:rPr lang="en-US" dirty="0"/>
              <a:t>•  Overall weekly average: Casuals ~15 min, members ~12 min; highest casual durations on Sun/Tue (18 min).</a:t>
            </a:r>
          </a:p>
          <a:p>
            <a:r>
              <a:rPr lang="en-US" dirty="0"/>
              <a:t>•  Gap widens on non-workdays, suggesting casuals use for leisure/exploration/tourism.</a:t>
            </a:r>
          </a:p>
          <a:p>
            <a:r>
              <a:rPr lang="en-US" b="1" dirty="0"/>
              <a:t>Conversion Tie-In: Weekend spikes show casuals as “occasional explorers”; launch weekend-only membership discounts to encourage habitual use.</a:t>
            </a:r>
          </a:p>
        </p:txBody>
      </p:sp>
    </p:spTree>
    <p:extLst>
      <p:ext uri="{BB962C8B-B14F-4D97-AF65-F5344CB8AC3E}">
        <p14:creationId xmlns:p14="http://schemas.microsoft.com/office/powerpoint/2010/main" val="221622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8BDB-AA5B-6AB9-6A78-F06E14D96EEE}"/>
              </a:ext>
            </a:extLst>
          </p:cNvPr>
          <p:cNvSpPr>
            <a:spLocks noGrp="1"/>
          </p:cNvSpPr>
          <p:nvPr>
            <p:ph type="title"/>
          </p:nvPr>
        </p:nvSpPr>
        <p:spPr/>
        <p:txBody>
          <a:bodyPr/>
          <a:lstStyle/>
          <a:p>
            <a:r>
              <a:rPr lang="en-US" b="1" dirty="0"/>
              <a:t>Seasonal Trends</a:t>
            </a:r>
          </a:p>
        </p:txBody>
      </p:sp>
      <p:pic>
        <p:nvPicPr>
          <p:cNvPr id="7" name="Content Placeholder 6" descr="A graph of different colored bars&#10;&#10;AI-generated content may be incorrect.">
            <a:extLst>
              <a:ext uri="{FF2B5EF4-FFF2-40B4-BE49-F238E27FC236}">
                <a16:creationId xmlns:a16="http://schemas.microsoft.com/office/drawing/2014/main" id="{A32A009B-D169-8404-E673-1501236BEAF0}"/>
              </a:ext>
            </a:extLst>
          </p:cNvPr>
          <p:cNvPicPr>
            <a:picLocks noGrp="1" noChangeAspect="1"/>
          </p:cNvPicPr>
          <p:nvPr>
            <p:ph sz="quarter" idx="10"/>
          </p:nvPr>
        </p:nvPicPr>
        <p:blipFill>
          <a:blip r:embed="rId2"/>
          <a:stretch>
            <a:fillRect/>
          </a:stretch>
        </p:blipFill>
        <p:spPr>
          <a:xfrm>
            <a:off x="1054645" y="2152650"/>
            <a:ext cx="9536688" cy="3969810"/>
          </a:xfrm>
        </p:spPr>
      </p:pic>
      <p:sp>
        <p:nvSpPr>
          <p:cNvPr id="5" name="Slide Number Placeholder 4">
            <a:extLst>
              <a:ext uri="{FF2B5EF4-FFF2-40B4-BE49-F238E27FC236}">
                <a16:creationId xmlns:a16="http://schemas.microsoft.com/office/drawing/2014/main" id="{B13AB315-D179-D1C4-F0E9-3B2C32C5BD81}"/>
              </a:ext>
            </a:extLst>
          </p:cNvPr>
          <p:cNvSpPr>
            <a:spLocks noGrp="1"/>
          </p:cNvSpPr>
          <p:nvPr>
            <p:ph type="sldNum" sz="quarter" idx="4"/>
          </p:nvPr>
        </p:nvSpPr>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4163802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8438A-E2C1-C3C4-5207-48DE263D8F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9F21C8-F48C-A689-1A3C-BB5B16ECB8B3}"/>
              </a:ext>
            </a:extLst>
          </p:cNvPr>
          <p:cNvSpPr>
            <a:spLocks noGrp="1"/>
          </p:cNvSpPr>
          <p:nvPr>
            <p:ph type="title"/>
          </p:nvPr>
        </p:nvSpPr>
        <p:spPr>
          <a:xfrm>
            <a:off x="914400" y="1020445"/>
            <a:ext cx="4114800" cy="5029200"/>
          </a:xfrm>
        </p:spPr>
        <p:txBody>
          <a:bodyPr/>
          <a:lstStyle/>
          <a:p>
            <a:r>
              <a:rPr lang="en-US" dirty="0"/>
              <a:t>Key Insights:</a:t>
            </a:r>
            <a:br>
              <a:rPr lang="en-US" dirty="0"/>
            </a:br>
            <a:r>
              <a:rPr lang="en-US" dirty="0"/>
              <a:t>Seasonal Trends</a:t>
            </a:r>
          </a:p>
        </p:txBody>
      </p:sp>
      <p:sp>
        <p:nvSpPr>
          <p:cNvPr id="7" name="Content Placeholder 6">
            <a:extLst>
              <a:ext uri="{FF2B5EF4-FFF2-40B4-BE49-F238E27FC236}">
                <a16:creationId xmlns:a16="http://schemas.microsoft.com/office/drawing/2014/main" id="{6F5C4AB7-372C-C37E-4AEB-D70773E17C30}"/>
              </a:ext>
            </a:extLst>
          </p:cNvPr>
          <p:cNvSpPr>
            <a:spLocks noGrp="1"/>
          </p:cNvSpPr>
          <p:nvPr>
            <p:ph sz="quarter" idx="11"/>
          </p:nvPr>
        </p:nvSpPr>
        <p:spPr>
          <a:xfrm>
            <a:off x="6475227" y="1020445"/>
            <a:ext cx="4802735" cy="5029200"/>
          </a:xfrm>
        </p:spPr>
        <p:txBody>
          <a:bodyPr>
            <a:normAutofit fontScale="85000" lnSpcReduction="10000"/>
          </a:bodyPr>
          <a:lstStyle/>
          <a:p>
            <a:r>
              <a:rPr lang="en-US" dirty="0"/>
              <a:t>Description: Clustered columns for members (blue) vs. casuals (orange) per month (x-axis: Jan-Dec; y-axis: 0-50,000 rides).</a:t>
            </a:r>
          </a:p>
          <a:p>
            <a:pPr marL="0" indent="0">
              <a:buNone/>
            </a:pPr>
            <a:r>
              <a:rPr lang="en-US" b="1" dirty="0"/>
              <a:t>Key Findings:</a:t>
            </a:r>
          </a:p>
          <a:p>
            <a:r>
              <a:rPr lang="en-US" dirty="0"/>
              <a:t> Members are consistent (~20,000-30,000 rides/month year-round), making up ~60-70% of total volume.</a:t>
            </a:r>
          </a:p>
          <a:p>
            <a:r>
              <a:rPr lang="en-US" dirty="0"/>
              <a:t>  Casuals spike dramatically in summer (Jun-Aug: ~40,000-45,000 rides, 40% of total), but drop to &lt;10,000 in winter.</a:t>
            </a:r>
          </a:p>
          <a:p>
            <a:r>
              <a:rPr lang="en-US" dirty="0"/>
              <a:t> Annual total: ~3.2M member rides vs. ~2.5M casual; summer accounts for 50% of casual growth.</a:t>
            </a:r>
          </a:p>
          <a:p>
            <a:r>
              <a:rPr lang="en-US" dirty="0"/>
              <a:t>Ratio shifts: Winter 80/20 member/casual; summer 50/50.</a:t>
            </a:r>
          </a:p>
          <a:p>
            <a:r>
              <a:rPr lang="en-US" b="1" dirty="0"/>
              <a:t>Conversion Tie-In: Seasonal casual surge indicates weather-motivated users; use geofenced summer ads near stations to convert “fair-weather” riders.</a:t>
            </a:r>
          </a:p>
        </p:txBody>
      </p:sp>
    </p:spTree>
    <p:extLst>
      <p:ext uri="{BB962C8B-B14F-4D97-AF65-F5344CB8AC3E}">
        <p14:creationId xmlns:p14="http://schemas.microsoft.com/office/powerpoint/2010/main" val="166035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881-6BD1-0A28-2327-6E7CABC8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20F2B-B970-A397-118C-741631ADBDC6}"/>
              </a:ext>
            </a:extLst>
          </p:cNvPr>
          <p:cNvSpPr>
            <a:spLocks noGrp="1"/>
          </p:cNvSpPr>
          <p:nvPr>
            <p:ph type="title"/>
          </p:nvPr>
        </p:nvSpPr>
        <p:spPr/>
        <p:txBody>
          <a:bodyPr/>
          <a:lstStyle/>
          <a:p>
            <a:r>
              <a:rPr lang="en-US" dirty="0"/>
              <a:t>Time of Day Patterns</a:t>
            </a:r>
          </a:p>
        </p:txBody>
      </p:sp>
      <p:sp>
        <p:nvSpPr>
          <p:cNvPr id="5" name="Slide Number Placeholder 4">
            <a:extLst>
              <a:ext uri="{FF2B5EF4-FFF2-40B4-BE49-F238E27FC236}">
                <a16:creationId xmlns:a16="http://schemas.microsoft.com/office/drawing/2014/main" id="{A0D0EDD1-C5B7-BE0B-E261-5EAEAF9600C3}"/>
              </a:ext>
            </a:extLst>
          </p:cNvPr>
          <p:cNvSpPr>
            <a:spLocks noGrp="1"/>
          </p:cNvSpPr>
          <p:nvPr>
            <p:ph type="sldNum" sz="quarter" idx="4"/>
          </p:nvPr>
        </p:nvSpPr>
        <p:spPr/>
        <p:txBody>
          <a:bodyPr/>
          <a:lstStyle/>
          <a:p>
            <a:fld id="{B5CEABB6-07DC-46E8-9B57-56EC44A396E5}" type="slidenum">
              <a:rPr lang="en-US" smtClean="0"/>
              <a:pPr/>
              <a:t>11</a:t>
            </a:fld>
            <a:endParaRPr lang="en-US" dirty="0"/>
          </a:p>
        </p:txBody>
      </p:sp>
      <p:pic>
        <p:nvPicPr>
          <p:cNvPr id="8" name="Content Placeholder 7" descr="A graph with green and purple lines">
            <a:extLst>
              <a:ext uri="{FF2B5EF4-FFF2-40B4-BE49-F238E27FC236}">
                <a16:creationId xmlns:a16="http://schemas.microsoft.com/office/drawing/2014/main" id="{9549F53B-FABF-4D3C-A0F0-0C793EDF4989}"/>
              </a:ext>
            </a:extLst>
          </p:cNvPr>
          <p:cNvPicPr>
            <a:picLocks noGrp="1" noChangeAspect="1"/>
          </p:cNvPicPr>
          <p:nvPr>
            <p:ph sz="quarter" idx="10"/>
          </p:nvPr>
        </p:nvPicPr>
        <p:blipFill>
          <a:blip r:embed="rId2"/>
          <a:stretch>
            <a:fillRect/>
          </a:stretch>
        </p:blipFill>
        <p:spPr>
          <a:xfrm>
            <a:off x="998548" y="1553919"/>
            <a:ext cx="10204254" cy="4567333"/>
          </a:xfrm>
        </p:spPr>
      </p:pic>
    </p:spTree>
    <p:extLst>
      <p:ext uri="{BB962C8B-B14F-4D97-AF65-F5344CB8AC3E}">
        <p14:creationId xmlns:p14="http://schemas.microsoft.com/office/powerpoint/2010/main" val="2034473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2055-8706-9D9C-C075-F3E4428662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B24B643-61EE-A141-BB52-C9D5741C2E1A}"/>
              </a:ext>
            </a:extLst>
          </p:cNvPr>
          <p:cNvSpPr>
            <a:spLocks noGrp="1"/>
          </p:cNvSpPr>
          <p:nvPr>
            <p:ph type="title"/>
          </p:nvPr>
        </p:nvSpPr>
        <p:spPr>
          <a:xfrm>
            <a:off x="914400" y="1020445"/>
            <a:ext cx="4114800" cy="5029200"/>
          </a:xfrm>
        </p:spPr>
        <p:txBody>
          <a:bodyPr/>
          <a:lstStyle/>
          <a:p>
            <a:r>
              <a:rPr lang="en-US" dirty="0"/>
              <a:t>Key Insights:</a:t>
            </a:r>
            <a:br>
              <a:rPr lang="en-US" dirty="0"/>
            </a:br>
            <a:r>
              <a:rPr lang="en-US" dirty="0"/>
              <a:t>Hourly Breakdown</a:t>
            </a:r>
          </a:p>
        </p:txBody>
      </p:sp>
      <p:sp>
        <p:nvSpPr>
          <p:cNvPr id="7" name="Content Placeholder 6">
            <a:extLst>
              <a:ext uri="{FF2B5EF4-FFF2-40B4-BE49-F238E27FC236}">
                <a16:creationId xmlns:a16="http://schemas.microsoft.com/office/drawing/2014/main" id="{3A50BEAB-5FA0-45E4-4616-66BA98F79914}"/>
              </a:ext>
            </a:extLst>
          </p:cNvPr>
          <p:cNvSpPr>
            <a:spLocks noGrp="1"/>
          </p:cNvSpPr>
          <p:nvPr>
            <p:ph sz="quarter" idx="11"/>
          </p:nvPr>
        </p:nvSpPr>
        <p:spPr>
          <a:xfrm>
            <a:off x="6475227" y="1020445"/>
            <a:ext cx="4802735" cy="5029200"/>
          </a:xfrm>
        </p:spPr>
        <p:txBody>
          <a:bodyPr>
            <a:normAutofit fontScale="85000" lnSpcReduction="20000"/>
          </a:bodyPr>
          <a:lstStyle/>
          <a:p>
            <a:pPr marL="0" indent="0">
              <a:buNone/>
            </a:pPr>
            <a:r>
              <a:rPr lang="en-US" dirty="0"/>
              <a:t>Description: </a:t>
            </a:r>
          </a:p>
          <a:p>
            <a:pPr marL="0" indent="0">
              <a:buNone/>
            </a:pPr>
            <a:r>
              <a:rPr lang="en-US" dirty="0"/>
              <a:t>A vertical bar chart showing total rides per hour of the day (x-axis: 0-23 hours; y-axis: 0-50,000+ rides). Data is aggregated from PivotTable, with a bimodal pattern.</a:t>
            </a:r>
          </a:p>
          <a:p>
            <a:pPr marL="0" indent="0">
              <a:buNone/>
            </a:pPr>
            <a:r>
              <a:rPr lang="en-US" b="1" dirty="0"/>
              <a:t>Key Findings:</a:t>
            </a:r>
          </a:p>
          <a:p>
            <a:r>
              <a:rPr lang="en-US" dirty="0"/>
              <a:t>Peak usage occurs during commute hours: ~7-9 AM (morning rush) and ~4-6 PM (evening rush), with ~45,000-50,000 rides each.</a:t>
            </a:r>
          </a:p>
          <a:p>
            <a:r>
              <a:rPr lang="en-US" dirty="0"/>
              <a:t> Low activity overnight (12-5 AM: &lt;5,000 rides) and midday (10 AM-3 PM: ~10,000-20,000).</a:t>
            </a:r>
          </a:p>
          <a:p>
            <a:r>
              <a:rPr lang="en-US" dirty="0"/>
              <a:t> Overall, 70% of rides happen between 6 AM-10 PM, indicating urban mobility patterns.</a:t>
            </a:r>
          </a:p>
          <a:p>
            <a:r>
              <a:rPr lang="en-US" b="1" dirty="0"/>
              <a:t>Conversion Tie-In: Casuals may use bikes sporadically for leisure; target them with ads during off-peak hours (e.g., midday) emphasizing unlimited access for flexible lifestyles.</a:t>
            </a:r>
          </a:p>
        </p:txBody>
      </p:sp>
    </p:spTree>
    <p:extLst>
      <p:ext uri="{BB962C8B-B14F-4D97-AF65-F5344CB8AC3E}">
        <p14:creationId xmlns:p14="http://schemas.microsoft.com/office/powerpoint/2010/main" val="83933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1558E-6F80-E798-BF93-5AA58C1BE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B8662-63E2-25BF-B40F-4215FD155445}"/>
              </a:ext>
            </a:extLst>
          </p:cNvPr>
          <p:cNvSpPr>
            <a:spLocks noGrp="1"/>
          </p:cNvSpPr>
          <p:nvPr>
            <p:ph type="title"/>
          </p:nvPr>
        </p:nvSpPr>
        <p:spPr/>
        <p:txBody>
          <a:bodyPr/>
          <a:lstStyle/>
          <a:p>
            <a:r>
              <a:rPr lang="en-US" dirty="0"/>
              <a:t>Ride Type</a:t>
            </a:r>
          </a:p>
        </p:txBody>
      </p:sp>
      <p:sp>
        <p:nvSpPr>
          <p:cNvPr id="5" name="Slide Number Placeholder 4">
            <a:extLst>
              <a:ext uri="{FF2B5EF4-FFF2-40B4-BE49-F238E27FC236}">
                <a16:creationId xmlns:a16="http://schemas.microsoft.com/office/drawing/2014/main" id="{9E9A9ACE-BCF5-1393-6406-6E25567D8DEA}"/>
              </a:ext>
            </a:extLst>
          </p:cNvPr>
          <p:cNvSpPr>
            <a:spLocks noGrp="1"/>
          </p:cNvSpPr>
          <p:nvPr>
            <p:ph type="sldNum" sz="quarter" idx="4"/>
          </p:nvPr>
        </p:nvSpPr>
        <p:spPr/>
        <p:txBody>
          <a:bodyPr/>
          <a:lstStyle/>
          <a:p>
            <a:fld id="{B5CEABB6-07DC-46E8-9B57-56EC44A396E5}" type="slidenum">
              <a:rPr lang="en-US" smtClean="0"/>
              <a:pPr/>
              <a:t>13</a:t>
            </a:fld>
            <a:endParaRPr lang="en-US" dirty="0"/>
          </a:p>
        </p:txBody>
      </p:sp>
      <p:pic>
        <p:nvPicPr>
          <p:cNvPr id="7" name="Content Placeholder 6" descr="A graph of different colored lines">
            <a:extLst>
              <a:ext uri="{FF2B5EF4-FFF2-40B4-BE49-F238E27FC236}">
                <a16:creationId xmlns:a16="http://schemas.microsoft.com/office/drawing/2014/main" id="{1A11AA74-F24D-5508-BFD6-70E1535AAB24}"/>
              </a:ext>
            </a:extLst>
          </p:cNvPr>
          <p:cNvPicPr>
            <a:picLocks noGrp="1" noChangeAspect="1"/>
          </p:cNvPicPr>
          <p:nvPr>
            <p:ph sz="quarter" idx="10"/>
          </p:nvPr>
        </p:nvPicPr>
        <p:blipFill>
          <a:blip r:embed="rId2"/>
          <a:stretch>
            <a:fillRect/>
          </a:stretch>
        </p:blipFill>
        <p:spPr>
          <a:xfrm>
            <a:off x="595745" y="1474166"/>
            <a:ext cx="10849495" cy="4948598"/>
          </a:xfrm>
        </p:spPr>
      </p:pic>
    </p:spTree>
    <p:extLst>
      <p:ext uri="{BB962C8B-B14F-4D97-AF65-F5344CB8AC3E}">
        <p14:creationId xmlns:p14="http://schemas.microsoft.com/office/powerpoint/2010/main" val="4294211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1129-01DE-3662-425D-DE96FD1C26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B24B39-7F98-BB26-B188-A34F8DB64D6D}"/>
              </a:ext>
            </a:extLst>
          </p:cNvPr>
          <p:cNvSpPr>
            <a:spLocks noGrp="1"/>
          </p:cNvSpPr>
          <p:nvPr>
            <p:ph type="title"/>
          </p:nvPr>
        </p:nvSpPr>
        <p:spPr>
          <a:xfrm>
            <a:off x="914400" y="1020445"/>
            <a:ext cx="4114800" cy="5029200"/>
          </a:xfrm>
        </p:spPr>
        <p:txBody>
          <a:bodyPr/>
          <a:lstStyle/>
          <a:p>
            <a:r>
              <a:rPr lang="en-US" dirty="0"/>
              <a:t>Key Insights: </a:t>
            </a:r>
            <a:br>
              <a:rPr lang="en-US" dirty="0"/>
            </a:br>
            <a:r>
              <a:rPr lang="en-US" dirty="0"/>
              <a:t>Ride Type</a:t>
            </a:r>
          </a:p>
        </p:txBody>
      </p:sp>
      <p:sp>
        <p:nvSpPr>
          <p:cNvPr id="7" name="Content Placeholder 6">
            <a:extLst>
              <a:ext uri="{FF2B5EF4-FFF2-40B4-BE49-F238E27FC236}">
                <a16:creationId xmlns:a16="http://schemas.microsoft.com/office/drawing/2014/main" id="{9B9A5106-B31F-7E1F-F0A3-4AB1A1989060}"/>
              </a:ext>
            </a:extLst>
          </p:cNvPr>
          <p:cNvSpPr>
            <a:spLocks noGrp="1"/>
          </p:cNvSpPr>
          <p:nvPr>
            <p:ph sz="quarter" idx="11"/>
          </p:nvPr>
        </p:nvSpPr>
        <p:spPr>
          <a:xfrm>
            <a:off x="6475227" y="1020445"/>
            <a:ext cx="4802735" cy="5029200"/>
          </a:xfrm>
        </p:spPr>
        <p:txBody>
          <a:bodyPr>
            <a:normAutofit fontScale="77500" lnSpcReduction="20000"/>
          </a:bodyPr>
          <a:lstStyle/>
          <a:p>
            <a:pPr marL="0" indent="0">
              <a:buNone/>
            </a:pPr>
            <a:r>
              <a:rPr lang="en-US" b="1" dirty="0"/>
              <a:t>Description</a:t>
            </a:r>
            <a:r>
              <a:rPr lang="en-US" dirty="0"/>
              <a:t>: </a:t>
            </a:r>
          </a:p>
          <a:p>
            <a:r>
              <a:rPr lang="en-US" dirty="0"/>
              <a:t>Clustered columns for three ride types (classic: blue, electric: orange, docked: green) across 12 months (x-axis: Jan-Dec; y-axis: 0-30,000 rides). Grand total per month shown.</a:t>
            </a:r>
          </a:p>
          <a:p>
            <a:pPr marL="0" indent="0">
              <a:buNone/>
            </a:pPr>
            <a:r>
              <a:rPr lang="en-US" b="1" dirty="0"/>
              <a:t>Key Findings:</a:t>
            </a:r>
          </a:p>
          <a:p>
            <a:r>
              <a:rPr lang="en-US" dirty="0"/>
              <a:t> Classic bikes dominate year-round (~70% of rides), peaking in summer (Jun-Aug: ~25,000-30,000 rides/month).</a:t>
            </a:r>
          </a:p>
          <a:p>
            <a:r>
              <a:rPr lang="en-US" dirty="0"/>
              <a:t> Electric bikes surge in warmer months (Jun-Aug: ~15,000-20,000 rides), dropping to &lt;5,000 in winter (Jan-Feb).</a:t>
            </a:r>
          </a:p>
          <a:p>
            <a:r>
              <a:rPr lang="en-US" dirty="0"/>
              <a:t>Docked bikes are minimal (&lt;2,000/month), suggesting low demand for assistive options (aligns with case study: only 8% use).</a:t>
            </a:r>
          </a:p>
          <a:p>
            <a:r>
              <a:rPr lang="en-US" dirty="0"/>
              <a:t>Total rides increase 2-3x in summer vs. winter, driven by weather/leisure.</a:t>
            </a:r>
          </a:p>
          <a:p>
            <a:r>
              <a:rPr lang="en-US" b="1" dirty="0"/>
              <a:t>Conversion Tie-In: Casuals favor electric for fun rides; offer membership trials with electric priority docking to hook seasonal users.</a:t>
            </a:r>
          </a:p>
        </p:txBody>
      </p:sp>
    </p:spTree>
    <p:extLst>
      <p:ext uri="{BB962C8B-B14F-4D97-AF65-F5344CB8AC3E}">
        <p14:creationId xmlns:p14="http://schemas.microsoft.com/office/powerpoint/2010/main" val="108219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B86ED-D7DC-6E87-655F-7A460E0C9B19}"/>
              </a:ext>
            </a:extLst>
          </p:cNvPr>
          <p:cNvSpPr>
            <a:spLocks noGrp="1"/>
          </p:cNvSpPr>
          <p:nvPr>
            <p:ph type="title"/>
          </p:nvPr>
        </p:nvSpPr>
        <p:spPr/>
        <p:txBody>
          <a:bodyPr>
            <a:normAutofit/>
          </a:bodyPr>
          <a:lstStyle/>
          <a:p>
            <a:r>
              <a:rPr lang="en-US" sz="3200" dirty="0"/>
              <a:t>WAYS TO CONVERT CASUAL RIDERS TO MEMBERS</a:t>
            </a:r>
          </a:p>
        </p:txBody>
      </p:sp>
      <p:sp>
        <p:nvSpPr>
          <p:cNvPr id="3" name="Content Placeholder 2">
            <a:extLst>
              <a:ext uri="{FF2B5EF4-FFF2-40B4-BE49-F238E27FC236}">
                <a16:creationId xmlns:a16="http://schemas.microsoft.com/office/drawing/2014/main" id="{EEAE305F-C8EB-2A74-AAC6-98763CD3B71E}"/>
              </a:ext>
            </a:extLst>
          </p:cNvPr>
          <p:cNvSpPr>
            <a:spLocks noGrp="1"/>
          </p:cNvSpPr>
          <p:nvPr>
            <p:ph sz="quarter" idx="10"/>
          </p:nvPr>
        </p:nvSpPr>
        <p:spPr>
          <a:xfrm>
            <a:off x="929640" y="2153285"/>
            <a:ext cx="9780563" cy="3500438"/>
          </a:xfrm>
        </p:spPr>
        <p:txBody>
          <a:bodyPr/>
          <a:lstStyle/>
          <a:p>
            <a:pPr marL="0" indent="0">
              <a:buNone/>
            </a:pPr>
            <a:r>
              <a:rPr lang="en-US" dirty="0"/>
              <a:t>Based on these findings, here are </a:t>
            </a:r>
            <a:r>
              <a:rPr lang="en-US" b="1" dirty="0"/>
              <a:t>targeted, data-backed strategies</a:t>
            </a:r>
            <a:r>
              <a:rPr lang="en-US" dirty="0"/>
              <a:t> (aligned with Lily Moreno’s digital media focus):</a:t>
            </a:r>
          </a:p>
          <a:p>
            <a:pPr>
              <a:buFont typeface="Wingdings" panose="05000000000000000000" pitchFamily="2" charset="2"/>
              <a:buChar char="q"/>
            </a:pPr>
            <a:r>
              <a:rPr lang="en-US" b="1" dirty="0"/>
              <a:t>Seasonal “Summer Switch” Campaign: Launch Jun-Aug via Instagram/Facebook/TikTok/X ads geofenced to Chicago stations. Highlight savings on long electric rides (e.g., “Unlimited summer adventures for $99—save 70% vs. daily passes”). Offer a free trial month; track via app sign-ups. Expected Impact: Capture 30% of casual spike.</a:t>
            </a:r>
          </a:p>
          <a:p>
            <a:pPr>
              <a:buFont typeface="Wingdings" panose="05000000000000000000" pitchFamily="2" charset="2"/>
              <a:buChar char="q"/>
            </a:pPr>
            <a:r>
              <a:rPr lang="en-US" b="1" dirty="0"/>
              <a:t>Weekend Warrior Perks</a:t>
            </a:r>
            <a:r>
              <a:rPr lang="en-US" dirty="0"/>
              <a:t>: Email/SMS blasts to casual app users on Fri-Sun, promoting “Weekend Unlimited” (no overage fees for &gt;30 min rides). Bundle with electric bike priority. Use retargeting for past weekend riders. </a:t>
            </a:r>
            <a:r>
              <a:rPr lang="en-US" i="1" dirty="0"/>
              <a:t>Expected Impact</a:t>
            </a:r>
            <a:r>
              <a:rPr lang="en-US" dirty="0"/>
              <a:t>: Convert leisure users by addressing high weekend costs.</a:t>
            </a:r>
            <a:endParaRPr lang="en-US" b="1" dirty="0"/>
          </a:p>
          <a:p>
            <a:pPr>
              <a:buFont typeface="Wingdings" panose="05000000000000000000" pitchFamily="2" charset="2"/>
              <a:buChar char="q"/>
            </a:pPr>
            <a:endParaRPr lang="en-US" b="1" dirty="0"/>
          </a:p>
        </p:txBody>
      </p:sp>
      <p:sp>
        <p:nvSpPr>
          <p:cNvPr id="5" name="Slide Number Placeholder 4">
            <a:extLst>
              <a:ext uri="{FF2B5EF4-FFF2-40B4-BE49-F238E27FC236}">
                <a16:creationId xmlns:a16="http://schemas.microsoft.com/office/drawing/2014/main" id="{AFD62CBE-C61C-5D4E-6C19-9BFD8D27003E}"/>
              </a:ext>
            </a:extLst>
          </p:cNvPr>
          <p:cNvSpPr>
            <a:spLocks noGrp="1"/>
          </p:cNvSpPr>
          <p:nvPr>
            <p:ph type="sldNum" sz="quarter" idx="4"/>
          </p:nvPr>
        </p:nvSpPr>
        <p:spPr/>
        <p:txBody>
          <a:bodyPr/>
          <a:lstStyle/>
          <a:p>
            <a:fld id="{B5CEABB6-07DC-46E8-9B57-56EC44A396E5}" type="slidenum">
              <a:rPr lang="en-US" smtClean="0"/>
              <a:pPr/>
              <a:t>15</a:t>
            </a:fld>
            <a:endParaRPr lang="en-US" dirty="0"/>
          </a:p>
        </p:txBody>
      </p:sp>
    </p:spTree>
    <p:extLst>
      <p:ext uri="{BB962C8B-B14F-4D97-AF65-F5344CB8AC3E}">
        <p14:creationId xmlns:p14="http://schemas.microsoft.com/office/powerpoint/2010/main" val="25416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5CE46-3FEA-0E01-9C65-7D5993ABB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D804F-70E1-375E-5549-BD1DFA45D414}"/>
              </a:ext>
            </a:extLst>
          </p:cNvPr>
          <p:cNvSpPr>
            <a:spLocks noGrp="1"/>
          </p:cNvSpPr>
          <p:nvPr>
            <p:ph type="title"/>
          </p:nvPr>
        </p:nvSpPr>
        <p:spPr/>
        <p:txBody>
          <a:bodyPr>
            <a:normAutofit/>
          </a:bodyPr>
          <a:lstStyle/>
          <a:p>
            <a:r>
              <a:rPr lang="en-US" sz="3200" dirty="0"/>
              <a:t>WAYS TO CONVERT CASUAL RIDERS TO MEMBERS</a:t>
            </a:r>
          </a:p>
        </p:txBody>
      </p:sp>
      <p:sp>
        <p:nvSpPr>
          <p:cNvPr id="3" name="Content Placeholder 2">
            <a:extLst>
              <a:ext uri="{FF2B5EF4-FFF2-40B4-BE49-F238E27FC236}">
                <a16:creationId xmlns:a16="http://schemas.microsoft.com/office/drawing/2014/main" id="{38619096-510C-F42C-90A9-96BABB7EE251}"/>
              </a:ext>
            </a:extLst>
          </p:cNvPr>
          <p:cNvSpPr>
            <a:spLocks noGrp="1"/>
          </p:cNvSpPr>
          <p:nvPr>
            <p:ph sz="quarter" idx="10"/>
          </p:nvPr>
        </p:nvSpPr>
        <p:spPr>
          <a:xfrm>
            <a:off x="929640" y="1709272"/>
            <a:ext cx="9780563" cy="4411980"/>
          </a:xfrm>
        </p:spPr>
        <p:txBody>
          <a:bodyPr>
            <a:normAutofit fontScale="92500" lnSpcReduction="10000"/>
          </a:bodyPr>
          <a:lstStyle/>
          <a:p>
            <a:pPr>
              <a:buFont typeface="Wingdings" panose="05000000000000000000" pitchFamily="2" charset="2"/>
              <a:buChar char="q"/>
            </a:pPr>
            <a:r>
              <a:rPr lang="en-US" b="1" dirty="0"/>
              <a:t>Commute Teaser Ads: Push notifications during peaks (7-9 AM/4-6 PM) via Google Display/YouTube: “Ditch traffic—join for unlimited short commutes.” A/B test with casuals who’ve done 5+ short rides. Include referral bonuses for sharing. Expected Impact: Bridge casuals’ sporadic use to daily habits.</a:t>
            </a:r>
          </a:p>
          <a:p>
            <a:pPr>
              <a:buFont typeface="Wingdings" panose="05000000000000000000" pitchFamily="2" charset="2"/>
              <a:buChar char="q"/>
            </a:pPr>
            <a:r>
              <a:rPr lang="en-US" b="1" dirty="0"/>
              <a:t>Weekend Warrior Perks</a:t>
            </a:r>
            <a:r>
              <a:rPr lang="en-US" dirty="0"/>
              <a:t>: Email/SMS blasts to casual app users on Fri-Sun, promoting “Weekend Unlimited” (no overage fees for &gt;30 min rides). Bundle with electric bike priority. Use retargeting for past weekend riders. </a:t>
            </a:r>
            <a:r>
              <a:rPr lang="en-US" i="1" dirty="0"/>
              <a:t>Expected Impact</a:t>
            </a:r>
            <a:r>
              <a:rPr lang="en-US" dirty="0"/>
              <a:t>: Convert leisure users by addressing high weekend costs.</a:t>
            </a:r>
          </a:p>
          <a:p>
            <a:pPr>
              <a:buFont typeface="Wingdings" panose="05000000000000000000" pitchFamily="2" charset="2"/>
              <a:buChar char="q"/>
            </a:pPr>
            <a:r>
              <a:rPr lang="en-US" b="1" dirty="0"/>
              <a:t>Personalized Digital Nudges (Cross-Graph)</a:t>
            </a:r>
            <a:r>
              <a:rPr lang="en-US" dirty="0"/>
              <a:t>: Use app data for tailored emails (e.g., “You’ve ridden 45 min this weekend—membership saves you $20 next time”). Integrate with social proof (e.g., “Join 70% of riders for year-round access”). Measure via conversion tracking.</a:t>
            </a:r>
          </a:p>
          <a:p>
            <a:pPr>
              <a:buFont typeface="Wingdings" panose="05000000000000000000" pitchFamily="2" charset="2"/>
              <a:buChar char="q"/>
            </a:pPr>
            <a:r>
              <a:rPr lang="en-US" dirty="0" err="1"/>
              <a:t>Cyclistic</a:t>
            </a:r>
            <a:r>
              <a:rPr lang="en-US" dirty="0"/>
              <a:t> casual riders take significantly longer rides (averaging 16–18 minutes) than members (10–12 minutes), especially on weekends, while members maintain consistent short trips for commuting. Total rides surge in summer (June–August), with casuals driving the spike and outpacing members, alongside a strong preference for electric bikes during warm months. Most rides last under 20 minutes, but casuals dominate longer durations (&gt;30 minutes), particularly on weekends and in summer</a:t>
            </a:r>
            <a:r>
              <a:rPr lang="en-US" b="1" dirty="0"/>
              <a:t>. To convert casuals, target their seasonal and leisure patterns with (a price) “Chicago Summer Pass” offering unlimited rides and electric priority, promoted via tourist hubs and digital ads to capture high-value summer visitors.</a:t>
            </a:r>
          </a:p>
          <a:p>
            <a:pPr>
              <a:buFont typeface="Wingdings" panose="05000000000000000000" pitchFamily="2" charset="2"/>
              <a:buChar char="q"/>
            </a:pPr>
            <a:endParaRPr lang="en-US" b="1" dirty="0"/>
          </a:p>
        </p:txBody>
      </p:sp>
      <p:sp>
        <p:nvSpPr>
          <p:cNvPr id="5" name="Slide Number Placeholder 4">
            <a:extLst>
              <a:ext uri="{FF2B5EF4-FFF2-40B4-BE49-F238E27FC236}">
                <a16:creationId xmlns:a16="http://schemas.microsoft.com/office/drawing/2014/main" id="{8CA8CBA6-1875-E93B-C143-0CE58765CFCE}"/>
              </a:ext>
            </a:extLst>
          </p:cNvPr>
          <p:cNvSpPr>
            <a:spLocks noGrp="1"/>
          </p:cNvSpPr>
          <p:nvPr>
            <p:ph type="sldNum" sz="quarter" idx="4"/>
          </p:nvPr>
        </p:nvSpPr>
        <p:spPr/>
        <p:txBody>
          <a:bodyPr/>
          <a:lstStyle/>
          <a:p>
            <a:fld id="{B5CEABB6-07DC-46E8-9B57-56EC44A396E5}" type="slidenum">
              <a:rPr lang="en-US" smtClean="0"/>
              <a:pPr/>
              <a:t>16</a:t>
            </a:fld>
            <a:endParaRPr lang="en-US" dirty="0"/>
          </a:p>
        </p:txBody>
      </p:sp>
    </p:spTree>
    <p:extLst>
      <p:ext uri="{BB962C8B-B14F-4D97-AF65-F5344CB8AC3E}">
        <p14:creationId xmlns:p14="http://schemas.microsoft.com/office/powerpoint/2010/main" val="3981334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79E6D-BF71-0E47-40CF-CE3778C1E49C}"/>
              </a:ext>
            </a:extLst>
          </p:cNvPr>
          <p:cNvSpPr>
            <a:spLocks noGrp="1"/>
          </p:cNvSpPr>
          <p:nvPr>
            <p:ph type="title"/>
          </p:nvPr>
        </p:nvSpPr>
        <p:spPr>
          <a:xfrm>
            <a:off x="6478589" y="914399"/>
            <a:ext cx="4799011" cy="5029199"/>
          </a:xfrm>
        </p:spPr>
        <p:txBody>
          <a:bodyPr>
            <a:noAutofit/>
          </a:bodyPr>
          <a:lstStyle/>
          <a:p>
            <a:pPr marL="571500" indent="-571500">
              <a:buFont typeface="Arial" panose="020B0604020202020204" pitchFamily="34" charset="0"/>
              <a:buChar char="•"/>
            </a:pPr>
            <a:r>
              <a:rPr lang="en-US" sz="3600" dirty="0">
                <a:latin typeface="+mn-lt"/>
              </a:rPr>
              <a:t>These strategies leverage digital channels for low-cost, high-reach targeting, aiming for 15-25% casual-to-member conversion in Year 1.</a:t>
            </a:r>
          </a:p>
        </p:txBody>
      </p:sp>
      <p:pic>
        <p:nvPicPr>
          <p:cNvPr id="6" name="Picture Placeholder 5" descr="A silhouette of a person holding a bicycle&#10;&#10;AI-generated content may be incorrect.">
            <a:extLst>
              <a:ext uri="{FF2B5EF4-FFF2-40B4-BE49-F238E27FC236}">
                <a16:creationId xmlns:a16="http://schemas.microsoft.com/office/drawing/2014/main" id="{BF2C66AC-C8E4-C260-67C3-73D86D2C7DF3}"/>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2132" r="12132"/>
          <a:stretch>
            <a:fillRect/>
          </a:stretch>
        </p:blipFill>
        <p:spPr>
          <a:xfrm>
            <a:off x="681318" y="914400"/>
            <a:ext cx="5032095" cy="5029200"/>
          </a:xfrm>
        </p:spPr>
      </p:pic>
      <p:sp>
        <p:nvSpPr>
          <p:cNvPr id="4" name="Slide Number Placeholder 3">
            <a:extLst>
              <a:ext uri="{FF2B5EF4-FFF2-40B4-BE49-F238E27FC236}">
                <a16:creationId xmlns:a16="http://schemas.microsoft.com/office/drawing/2014/main" id="{96871D23-A2A8-B3DD-841F-E457A4FD7C20}"/>
              </a:ext>
            </a:extLst>
          </p:cNvPr>
          <p:cNvSpPr>
            <a:spLocks noGrp="1"/>
          </p:cNvSpPr>
          <p:nvPr>
            <p:ph type="sldNum" sz="quarter" idx="4"/>
          </p:nvPr>
        </p:nvSpPr>
        <p:spPr/>
        <p:txBody>
          <a:bodyPr/>
          <a:lstStyle/>
          <a:p>
            <a:fld id="{B5CEABB6-07DC-46E8-9B57-56EC44A396E5}" type="slidenum">
              <a:rPr lang="en-US" smtClean="0"/>
              <a:pPr/>
              <a:t>17</a:t>
            </a:fld>
            <a:endParaRPr lang="en-US" dirty="0"/>
          </a:p>
        </p:txBody>
      </p:sp>
    </p:spTree>
    <p:extLst>
      <p:ext uri="{BB962C8B-B14F-4D97-AF65-F5344CB8AC3E}">
        <p14:creationId xmlns:p14="http://schemas.microsoft.com/office/powerpoint/2010/main" val="2125866003"/>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档" ma:contentTypeID="0x0101002198B8B600AD0740AAEF5B5CA930DEA1" ma:contentTypeVersion="4" ma:contentTypeDescription="新建文档。" ma:contentTypeScope="" ma:versionID="b6fb2d6ad4e7155fe0d085a4a8c60dd4">
  <xsd:schema xmlns:xsd="http://www.w3.org/2001/XMLSchema" xmlns:xs="http://www.w3.org/2001/XMLSchema" xmlns:p="http://schemas.microsoft.com/office/2006/metadata/properties" xmlns:ns3="e3415fae-6a37-43fd-a28c-647a1475ac2d" targetNamespace="http://schemas.microsoft.com/office/2006/metadata/properties" ma:root="true" ma:fieldsID="84e7c1ef14eb7aaa7700add7c1f94d6f" ns3:_="">
    <xsd:import namespace="e3415fae-6a37-43fd-a28c-647a1475ac2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415fae-6a37-43fd-a28c-647a1475ac2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7CDA33-9251-49D0-A51A-7888AA3E0635}">
  <ds:schemaRef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2006/metadata/properties"/>
    <ds:schemaRef ds:uri="e3415fae-6a37-43fd-a28c-647a1475ac2d"/>
    <ds:schemaRef ds:uri="http://www.w3.org/XML/1998/namespace"/>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3.xml><?xml version="1.0" encoding="utf-8"?>
<ds:datastoreItem xmlns:ds="http://schemas.openxmlformats.org/officeDocument/2006/customXml" ds:itemID="{28D5BCB4-B52B-45FF-A6B9-7851DAB469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415fae-6a37-43fd-a28c-647a1475ac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516</TotalTime>
  <Words>1447</Words>
  <Application>Microsoft Office PowerPoint</Application>
  <PresentationFormat>Widescreen</PresentationFormat>
  <Paragraphs>100</Paragraphs>
  <Slides>17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Amasis MT Pro Black</vt:lpstr>
      <vt:lpstr>Arial</vt:lpstr>
      <vt:lpstr>Bodoni MT</vt:lpstr>
      <vt:lpstr>Calibri</vt:lpstr>
      <vt:lpstr>Source Sans Pro Light</vt:lpstr>
      <vt:lpstr>Wingdings</vt:lpstr>
      <vt:lpstr>Custom</vt:lpstr>
      <vt:lpstr>Cyclistic </vt:lpstr>
      <vt:lpstr>Business Task </vt:lpstr>
      <vt:lpstr>Data Source     </vt:lpstr>
      <vt:lpstr>Data Cleaning Steps</vt:lpstr>
      <vt:lpstr>Key Insights</vt:lpstr>
      <vt:lpstr>Average Rides Duration by Day</vt:lpstr>
      <vt:lpstr>Duration Paterns</vt:lpstr>
      <vt:lpstr>Key Insights: Average Rides per day and Duration</vt:lpstr>
      <vt:lpstr>Seasonal Trends</vt:lpstr>
      <vt:lpstr>Key Insights: Seasonal Trends</vt:lpstr>
      <vt:lpstr>Time of Day Patterns</vt:lpstr>
      <vt:lpstr>Key Insights: Hourly Breakdown</vt:lpstr>
      <vt:lpstr>Ride Type</vt:lpstr>
      <vt:lpstr>Key Insights:  Ride Type</vt:lpstr>
      <vt:lpstr>WAYS TO CONVERT CASUAL RIDERS TO MEMBERS</vt:lpstr>
      <vt:lpstr>WAYS TO CONVERT CASUAL RIDERS TO MEMBERS</vt:lpstr>
      <vt:lpstr>These strategies leverage digital channels for low-cost, high-reach targeting, aiming for 15-25% casual-to-member conversion in Year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6</cp:revision>
  <dcterms:created xsi:type="dcterms:W3CDTF">2025-11-08T13:58:15Z</dcterms:created>
  <dcterms:modified xsi:type="dcterms:W3CDTF">2025-11-08T22:34:34Z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0x0101002198B8B600AD0740AAEF5B5CA930DEA1</vt:lpwstr>
  </property>
  <property fmtid="{D5CDD505-2E9C-101B-9397-08002B2CF9AE}" pid="3" name="MediaServiceImageTags">
    <vt:lpwstr/>
  </property>
</Properties>
</file>